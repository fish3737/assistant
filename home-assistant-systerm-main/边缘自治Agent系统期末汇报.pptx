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5240000" cy="85725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EEF2F4">
              <a:alpha val="8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5240000" cy="876300"/>
          </a:xfrm>
          <a:prstGeom prst="rect">
            <a:avLst/>
          </a:prstGeom>
          <a:solidFill>
            <a:srgbClr val="13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876300"/>
            <a:ext cx="15240000" cy="47625"/>
          </a:xfrm>
          <a:prstGeom prst="rect">
            <a:avLst/>
          </a:prstGeom>
          <a:solidFill>
            <a:srgbClr val="37A8B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228600"/>
            <a:ext cx="476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期末汇报</a:t>
            </a:r>
            <a:endParaRPr sz="1500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097000" y="238125"/>
            <a:ext cx="66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01</a:t>
            </a:r>
            <a:endParaRPr sz="1575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132033">
              <a:alpha val="9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132033">
              <a:alpha val="8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66750" y="1714500"/>
            <a:ext cx="11239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面向智能家居的边缘自治 Agent 系统</a:t>
            </a:r>
            <a:endParaRPr sz="33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04850" y="2495550"/>
            <a:ext cx="10668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C9D5E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0">
                <a:solidFill>
                  <a:srgbClr val="C9D5E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期末汇报：通信异常、优先级调度、状态可信度与容错验证</a:t>
            </a:r>
            <a:endParaRPr sz="1800" b="0">
              <a:solidFill>
                <a:srgbClr val="C9D5E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23900" y="3333750"/>
            <a:ext cx="2000250" cy="361950"/>
          </a:xfrm>
          <a:prstGeom prst="rect">
            <a:avLst/>
          </a:prstGeom>
          <a:solidFill>
            <a:srgbClr val="F8FAF8"/>
          </a:solidFill>
          <a:ln w="9525">
            <a:solidFill>
              <a:srgbClr val="37A8B9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57250" y="3409950"/>
            <a:ext cx="1733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7A8B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0">
                <a:solidFill>
                  <a:srgbClr val="37A8B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MQTT 实际闭环</a:t>
            </a:r>
            <a:endParaRPr sz="1125" b="0">
              <a:solidFill>
                <a:srgbClr val="37A8B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105150" y="3333750"/>
            <a:ext cx="2000250" cy="361950"/>
          </a:xfrm>
          <a:prstGeom prst="rect">
            <a:avLst/>
          </a:prstGeom>
          <a:solidFill>
            <a:srgbClr val="F8FAF8"/>
          </a:solidFill>
          <a:ln w="9525">
            <a:solidFill>
              <a:srgbClr val="72B86B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238500" y="3409950"/>
            <a:ext cx="1733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72B86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0">
                <a:solidFill>
                  <a:srgbClr val="72B86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148 次仿真运行</a:t>
            </a:r>
            <a:endParaRPr sz="1125" b="0">
              <a:solidFill>
                <a:srgbClr val="72B86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486400" y="3333750"/>
            <a:ext cx="2000250" cy="361950"/>
          </a:xfrm>
          <a:prstGeom prst="rect">
            <a:avLst/>
          </a:prstGeom>
          <a:solidFill>
            <a:srgbClr val="F8FAF8"/>
          </a:solidFill>
          <a:ln w="9525">
            <a:solidFill>
              <a:srgbClr val="EF9B3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619750" y="3409950"/>
            <a:ext cx="1733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EF9B3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0">
                <a:solidFill>
                  <a:srgbClr val="EF9B3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4452 条任务记录</a:t>
            </a:r>
            <a:endParaRPr sz="1125" b="0">
              <a:solidFill>
                <a:srgbClr val="EF9B3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67650" y="3333750"/>
            <a:ext cx="2000250" cy="361950"/>
          </a:xfrm>
          <a:prstGeom prst="rect">
            <a:avLst/>
          </a:prstGeom>
          <a:solidFill>
            <a:srgbClr val="F8FAF8"/>
          </a:solidFill>
          <a:ln w="9525">
            <a:solidFill>
              <a:srgbClr val="7669D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001000" y="3409950"/>
            <a:ext cx="1733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7669D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0">
                <a:solidFill>
                  <a:srgbClr val="7669D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7 张实验图表</a:t>
            </a:r>
            <a:endParaRPr sz="1125" b="0">
              <a:solidFill>
                <a:srgbClr val="7669D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42950" y="48958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8DE5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8DE5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研究主线</a:t>
            </a:r>
            <a:endParaRPr sz="1500" b="0">
              <a:solidFill>
                <a:srgbClr val="8DE5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42950" y="5257800"/>
            <a:ext cx="11334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EEF4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EEF4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在不稳定边缘环境下，让智能家居 Agent 不只是“触发规则”，而是能判断状态可信度、安排任务优先级，并确认设备是否真正执行。</a:t>
            </a:r>
            <a:endParaRPr sz="1875" b="0">
              <a:solidFill>
                <a:srgbClr val="EEF4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62000" y="7667625"/>
            <a:ext cx="857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Edge Agent · Home Assistant · MQTT · Reliability Evaluation</a:t>
            </a:r>
            <a:endParaRPr sz="1350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EEF2F4">
              <a:alpha val="8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5240000" cy="876300"/>
          </a:xfrm>
          <a:prstGeom prst="rect">
            <a:avLst/>
          </a:prstGeom>
          <a:solidFill>
            <a:srgbClr val="13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876300"/>
            <a:ext cx="15240000" cy="47625"/>
          </a:xfrm>
          <a:prstGeom prst="rect">
            <a:avLst/>
          </a:prstGeom>
          <a:solidFill>
            <a:srgbClr val="37A8B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228600"/>
            <a:ext cx="476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期末汇报</a:t>
            </a:r>
            <a:endParaRPr sz="1500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097000" y="238125"/>
            <a:ext cx="66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</a:t>
            </a:r>
            <a:endParaRPr sz="1575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143000"/>
            <a:ext cx="9715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期末任务要求转化为研究产出</a:t>
            </a:r>
            <a:endParaRPr sz="2700" b="1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695450"/>
            <a:ext cx="10668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从“系统能跑”扩展到“机制可解释、实验可复现、结果可量化”</a:t>
            </a:r>
            <a:endParaRPr sz="15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2476500"/>
            <a:ext cx="13525500" cy="2286000"/>
          </a:xfrm>
          <a:prstGeom prst="rect">
            <a:avLst/>
          </a:prstGeom>
          <a:solidFill>
            <a:srgbClr val="F8FAF8"/>
          </a:solidFill>
          <a:ln w="9525">
            <a:solidFill>
              <a:srgbClr val="CFD9E5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71550" y="2609850"/>
            <a:ext cx="1866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要求维度</a:t>
            </a:r>
            <a:endParaRPr sz="1125" b="1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067050" y="2609850"/>
            <a:ext cx="7105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本项目对应内容</a:t>
            </a:r>
            <a:endParaRPr sz="1125" b="1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401300" y="2609850"/>
            <a:ext cx="3867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汇报证据</a:t>
            </a:r>
            <a:endParaRPr sz="1125" b="1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57250" y="2933700"/>
            <a:ext cx="135255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71550" y="3067050"/>
            <a:ext cx="1866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研究背景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067050" y="3067050"/>
            <a:ext cx="7105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智能家居边缘自治，不依赖云端完成核心判断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0401300" y="3067050"/>
            <a:ext cx="3867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背景页 + 系统架构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57250" y="3390900"/>
            <a:ext cx="135255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71550" y="3524250"/>
            <a:ext cx="1866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研究方案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067050" y="3524250"/>
            <a:ext cx="7105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规则、优先级、状态过期、ACK 确认与重试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401300" y="3524250"/>
            <a:ext cx="3867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机制设计页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57250" y="3848100"/>
            <a:ext cx="135255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71550" y="3981450"/>
            <a:ext cx="1866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研究结果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067050" y="3981450"/>
            <a:ext cx="7105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延迟、丢包、离线、消融、真实 MQTT 验证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0401300" y="3981450"/>
            <a:ext cx="3867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CSV + 图表 + 截图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57250" y="4305300"/>
            <a:ext cx="135255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71550" y="4438650"/>
            <a:ext cx="1866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提交材料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067050" y="4438650"/>
            <a:ext cx="7105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PPT、录屏、代码、实验结果文件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0401300" y="4438650"/>
            <a:ext cx="3867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完整目录可复现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47750" y="5715000"/>
            <a:ext cx="3143250" cy="1219200"/>
          </a:xfrm>
          <a:prstGeom prst="rect">
            <a:avLst/>
          </a:prstGeom>
          <a:solidFill>
            <a:srgbClr val="F8FAF8"/>
          </a:solidFill>
          <a:ln w="9525">
            <a:solidFill>
              <a:srgbClr val="CED8E4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047750" y="5715000"/>
            <a:ext cx="76200" cy="1219200"/>
          </a:xfrm>
          <a:prstGeom prst="rect">
            <a:avLst/>
          </a:prstGeom>
          <a:solidFill>
            <a:srgbClr val="37A8B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276350" y="5943600"/>
            <a:ext cx="2762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37A8B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1">
                <a:solidFill>
                  <a:srgbClr val="37A8B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完整闭环</a:t>
            </a:r>
            <a:endParaRPr sz="2550" b="1">
              <a:solidFill>
                <a:srgbClr val="37A8B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276350" y="6419850"/>
            <a:ext cx="276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传感器 → Agent → 设备 → 可视化</a:t>
            </a:r>
            <a:endParaRPr sz="12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476750" y="5715000"/>
            <a:ext cx="3143250" cy="1219200"/>
          </a:xfrm>
          <a:prstGeom prst="rect">
            <a:avLst/>
          </a:prstGeom>
          <a:solidFill>
            <a:srgbClr val="F8FAF8"/>
          </a:solidFill>
          <a:ln w="9525">
            <a:solidFill>
              <a:srgbClr val="CED8E4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476750" y="5715000"/>
            <a:ext cx="76200" cy="1219200"/>
          </a:xfrm>
          <a:prstGeom prst="rect">
            <a:avLst/>
          </a:prstGeom>
          <a:solidFill>
            <a:srgbClr val="72B8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4705350" y="5943600"/>
            <a:ext cx="2762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72B86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1">
                <a:solidFill>
                  <a:srgbClr val="72B86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量化实验</a:t>
            </a:r>
            <a:endParaRPr sz="2550" b="1">
              <a:solidFill>
                <a:srgbClr val="72B86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705350" y="6419850"/>
            <a:ext cx="276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响应时间 / 成功率 / 等待时间</a:t>
            </a:r>
            <a:endParaRPr sz="12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905750" y="5715000"/>
            <a:ext cx="3143250" cy="1219200"/>
          </a:xfrm>
          <a:prstGeom prst="rect">
            <a:avLst/>
          </a:prstGeom>
          <a:solidFill>
            <a:srgbClr val="F8FAF8"/>
          </a:solidFill>
          <a:ln w="9525">
            <a:solidFill>
              <a:srgbClr val="CED8E4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905750" y="5715000"/>
            <a:ext cx="76200" cy="1219200"/>
          </a:xfrm>
          <a:prstGeom prst="rect">
            <a:avLst/>
          </a:prstGeom>
          <a:solidFill>
            <a:srgbClr val="EF9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134350" y="5943600"/>
            <a:ext cx="2762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EF9B3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1">
                <a:solidFill>
                  <a:srgbClr val="EF9B3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真实验证</a:t>
            </a:r>
            <a:endParaRPr sz="2550" b="1">
              <a:solidFill>
                <a:srgbClr val="EF9B3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134350" y="6419850"/>
            <a:ext cx="276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Docker + MQTT + edge_agent.py</a:t>
            </a:r>
            <a:endParaRPr sz="12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1334750" y="5715000"/>
            <a:ext cx="3143250" cy="1219200"/>
          </a:xfrm>
          <a:prstGeom prst="rect">
            <a:avLst/>
          </a:prstGeom>
          <a:solidFill>
            <a:srgbClr val="F8FAF8"/>
          </a:solidFill>
          <a:ln w="9525">
            <a:solidFill>
              <a:srgbClr val="CED8E4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1334750" y="5715000"/>
            <a:ext cx="76200" cy="1219200"/>
          </a:xfrm>
          <a:prstGeom prst="rect">
            <a:avLst/>
          </a:prstGeom>
          <a:solidFill>
            <a:srgbClr val="7669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11563350" y="5943600"/>
            <a:ext cx="2762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7669D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1">
                <a:solidFill>
                  <a:srgbClr val="7669D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可复现</a:t>
            </a:r>
            <a:endParaRPr sz="2550" b="1">
              <a:solidFill>
                <a:srgbClr val="7669D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1563350" y="6419850"/>
            <a:ext cx="276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CSV / 图表 / 脚本均保留</a:t>
            </a:r>
            <a:endParaRPr sz="12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571500" y="7762875"/>
            <a:ext cx="14097000" cy="419100"/>
          </a:xfrm>
          <a:prstGeom prst="rect">
            <a:avLst/>
          </a:prstGeom>
          <a:solidFill>
            <a:srgbClr val="E6EEF2"/>
          </a:solidFill>
          <a:ln w="9525">
            <a:solidFill>
              <a:srgbClr val="C8D5E2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742950" y="7858125"/>
            <a:ext cx="13754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本次期末汇报围绕“边缘自治 Agent 的可靠控制能力”组织，而不是简单展示 Home Assistant 页面。</a:t>
            </a:r>
            <a:endParaRPr sz="1275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EEF2F4">
              <a:alpha val="8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5240000" cy="876300"/>
          </a:xfrm>
          <a:prstGeom prst="rect">
            <a:avLst/>
          </a:prstGeom>
          <a:solidFill>
            <a:srgbClr val="13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876300"/>
            <a:ext cx="15240000" cy="47625"/>
          </a:xfrm>
          <a:prstGeom prst="rect">
            <a:avLst/>
          </a:prstGeom>
          <a:solidFill>
            <a:srgbClr val="37A8B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228600"/>
            <a:ext cx="476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期末汇报</a:t>
            </a:r>
            <a:endParaRPr sz="1500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097000" y="238125"/>
            <a:ext cx="66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03</a:t>
            </a:r>
            <a:endParaRPr sz="1575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143000"/>
            <a:ext cx="9715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研究问题：边缘环境下普通自动化规则不够稳定</a:t>
            </a:r>
            <a:endParaRPr sz="2700" b="1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695450"/>
            <a:ext cx="10668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延迟、丢包和设备离线会让“发出命令”不等于“完成控制”</a:t>
            </a:r>
            <a:endParaRPr sz="15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52500" y="2552700"/>
            <a:ext cx="85725" cy="85725"/>
          </a:xfrm>
          <a:prstGeom prst="rect">
            <a:avLst/>
          </a:prstGeom>
          <a:solidFill>
            <a:srgbClr val="D95F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81100" y="2476500"/>
            <a:ext cx="7010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状态不可靠：传感器可能长时间未更新，旧状态会导致误判。</a:t>
            </a:r>
            <a:endParaRPr sz="1725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52500" y="3086100"/>
            <a:ext cx="85725" cy="85725"/>
          </a:xfrm>
          <a:prstGeom prst="rect">
            <a:avLst/>
          </a:prstGeom>
          <a:solidFill>
            <a:srgbClr val="EF9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81100" y="3009900"/>
            <a:ext cx="7010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任务无优先：报警、安防与舒适性任务混在一起，关键任务可能排队。</a:t>
            </a:r>
            <a:endParaRPr sz="1725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52500" y="3619500"/>
            <a:ext cx="85725" cy="85725"/>
          </a:xfrm>
          <a:prstGeom prst="rect">
            <a:avLst/>
          </a:prstGeom>
          <a:solidFill>
            <a:srgbClr val="7669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81100" y="3543300"/>
            <a:ext cx="7010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执行不可知：设备可能离线或命令丢失，普通规则无法确认结果。</a:t>
            </a:r>
            <a:endParaRPr sz="1725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52500" y="4152900"/>
            <a:ext cx="85725" cy="85725"/>
          </a:xfrm>
          <a:prstGeom prst="rect">
            <a:avLst/>
          </a:prstGeom>
          <a:solidFill>
            <a:srgbClr val="4F73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181100" y="4076700"/>
            <a:ext cx="7010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缺少量化：只看页面状态变化，无法说明稳定性提升来自哪里。</a:t>
            </a:r>
            <a:endParaRPr sz="1725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334500" y="2286000"/>
            <a:ext cx="3905250" cy="914400"/>
          </a:xfrm>
          <a:prstGeom prst="rect">
            <a:avLst/>
          </a:prstGeom>
          <a:solidFill>
            <a:srgbClr val="F8FAF8"/>
          </a:solidFill>
          <a:ln w="19050">
            <a:solidFill>
              <a:srgbClr val="4F73D9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334500" y="2286000"/>
            <a:ext cx="76200" cy="914400"/>
          </a:xfrm>
          <a:prstGeom prst="rect">
            <a:avLst/>
          </a:prstGeom>
          <a:solidFill>
            <a:srgbClr val="4F73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563100" y="2476500"/>
            <a:ext cx="3524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普通规则</a:t>
            </a:r>
            <a:endParaRPr sz="1650" b="1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563100" y="2838450"/>
            <a:ext cx="3505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if 条件成立 → 直接发布命令</a:t>
            </a:r>
            <a:endParaRPr sz="12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334500" y="3619500"/>
            <a:ext cx="3905250" cy="914400"/>
          </a:xfrm>
          <a:prstGeom prst="rect">
            <a:avLst/>
          </a:prstGeom>
          <a:solidFill>
            <a:srgbClr val="F8FAF8"/>
          </a:solidFill>
          <a:ln w="19050">
            <a:solidFill>
              <a:srgbClr val="EF9B3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334500" y="3619500"/>
            <a:ext cx="76200" cy="914400"/>
          </a:xfrm>
          <a:prstGeom prst="rect">
            <a:avLst/>
          </a:prstGeom>
          <a:solidFill>
            <a:srgbClr val="EF9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563100" y="3810000"/>
            <a:ext cx="3524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不稳定链路</a:t>
            </a:r>
            <a:endParaRPr sz="1650" b="1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563100" y="4171950"/>
            <a:ext cx="3505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延迟、丢包、设备离线会打断闭环</a:t>
            </a:r>
            <a:endParaRPr sz="12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334500" y="4953000"/>
            <a:ext cx="3905250" cy="914400"/>
          </a:xfrm>
          <a:prstGeom prst="rect">
            <a:avLst/>
          </a:prstGeom>
          <a:solidFill>
            <a:srgbClr val="F8FAF8"/>
          </a:solidFill>
          <a:ln w="19050">
            <a:solidFill>
              <a:srgbClr val="D95F59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334500" y="4953000"/>
            <a:ext cx="76200" cy="914400"/>
          </a:xfrm>
          <a:prstGeom prst="rect">
            <a:avLst/>
          </a:prstGeom>
          <a:solidFill>
            <a:srgbClr val="D95F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563100" y="5143500"/>
            <a:ext cx="3524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结果不可确认</a:t>
            </a:r>
            <a:endParaRPr sz="1650" b="1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563100" y="5505450"/>
            <a:ext cx="3505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无法区分“已发送”和“已执行”</a:t>
            </a:r>
            <a:endParaRPr sz="12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1277600" y="3238500"/>
            <a:ext cx="0" cy="38100"/>
          </a:xfrm>
          <a:prstGeom prst="rect">
            <a:avLst/>
          </a:prstGeom>
          <a:solidFill>
            <a:srgbClr val="EF9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等腰三角形 30"/>
          <p:cNvSpPr>
            <a:spLocks noGrp="1"/>
          </p:cNvSpPr>
          <p:nvPr/>
        </p:nvSpPr>
        <p:spPr>
          <a:xfrm>
            <a:off x="11258550" y="3543300"/>
            <a:ext cx="171450" cy="171450"/>
          </a:xfrm>
          <a:prstGeom prst="triangle">
            <a:avLst/>
          </a:prstGeom>
          <a:solidFill>
            <a:srgbClr val="EF9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1277600" y="4572000"/>
            <a:ext cx="0" cy="38100"/>
          </a:xfrm>
          <a:prstGeom prst="rect">
            <a:avLst/>
          </a:prstGeom>
          <a:solidFill>
            <a:srgbClr val="D95F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等腰三角形 32"/>
          <p:cNvSpPr>
            <a:spLocks noGrp="1"/>
          </p:cNvSpPr>
          <p:nvPr/>
        </p:nvSpPr>
        <p:spPr>
          <a:xfrm>
            <a:off x="11258550" y="4876800"/>
            <a:ext cx="171450" cy="171450"/>
          </a:xfrm>
          <a:prstGeom prst="triangle">
            <a:avLst/>
          </a:prstGeom>
          <a:solidFill>
            <a:srgbClr val="D95F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571500" y="7762875"/>
            <a:ext cx="14097000" cy="419100"/>
          </a:xfrm>
          <a:prstGeom prst="rect">
            <a:avLst/>
          </a:prstGeom>
          <a:solidFill>
            <a:srgbClr val="E6EEF2"/>
          </a:solidFill>
          <a:ln w="9525">
            <a:solidFill>
              <a:srgbClr val="C8D5E2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42950" y="7858125"/>
            <a:ext cx="13754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核心问题定义：如何在弱网络和设备异常条件下，提高关键智能家居任务的完成稳定性。</a:t>
            </a:r>
            <a:endParaRPr sz="1275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EEF2F4">
              <a:alpha val="8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5240000" cy="876300"/>
          </a:xfrm>
          <a:prstGeom prst="rect">
            <a:avLst/>
          </a:prstGeom>
          <a:solidFill>
            <a:srgbClr val="13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876300"/>
            <a:ext cx="15240000" cy="47625"/>
          </a:xfrm>
          <a:prstGeom prst="rect">
            <a:avLst/>
          </a:prstGeom>
          <a:solidFill>
            <a:srgbClr val="37A8B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228600"/>
            <a:ext cx="476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期末汇报</a:t>
            </a:r>
            <a:endParaRPr sz="1500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097000" y="238125"/>
            <a:ext cx="66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04</a:t>
            </a:r>
            <a:endParaRPr sz="1575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143000"/>
            <a:ext cx="9715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总体方案：边缘自治 Agent 作为本地控制中枢</a:t>
            </a:r>
            <a:endParaRPr sz="2700" b="1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695450"/>
            <a:ext cx="10668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系统由真实 MQTT 演示闭环和可重复实验评估两部分组成</a:t>
            </a:r>
            <a:endParaRPr sz="15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62000" y="2857500"/>
            <a:ext cx="2476500" cy="1104900"/>
          </a:xfrm>
          <a:prstGeom prst="rect">
            <a:avLst/>
          </a:prstGeom>
          <a:solidFill>
            <a:srgbClr val="F8FAF8"/>
          </a:solidFill>
          <a:ln w="19050">
            <a:solidFill>
              <a:srgbClr val="37A8B9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2857500"/>
            <a:ext cx="76200" cy="1104900"/>
          </a:xfrm>
          <a:prstGeom prst="rect">
            <a:avLst/>
          </a:prstGeom>
          <a:solidFill>
            <a:srgbClr val="37A8B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30480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传感器模拟</a:t>
            </a:r>
            <a:endParaRPr sz="1650" b="1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90600" y="3409950"/>
            <a:ext cx="20764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温度、光照、门磁、PIR</a:t>
            </a:r>
            <a:endParaRPr sz="12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000500" y="2857500"/>
            <a:ext cx="2476500" cy="1104900"/>
          </a:xfrm>
          <a:prstGeom prst="rect">
            <a:avLst/>
          </a:prstGeom>
          <a:solidFill>
            <a:srgbClr val="F8FAF8"/>
          </a:solidFill>
          <a:ln w="19050">
            <a:solidFill>
              <a:srgbClr val="4F73D9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000500" y="2857500"/>
            <a:ext cx="76200" cy="1104900"/>
          </a:xfrm>
          <a:prstGeom prst="rect">
            <a:avLst/>
          </a:prstGeom>
          <a:solidFill>
            <a:srgbClr val="4F73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229100" y="30480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MQTT Broker</a:t>
            </a:r>
            <a:endParaRPr sz="1650" b="1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229100" y="3409950"/>
            <a:ext cx="20764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状态上报与命令下发</a:t>
            </a:r>
            <a:endParaRPr sz="12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239000" y="2857500"/>
            <a:ext cx="2476500" cy="1104900"/>
          </a:xfrm>
          <a:prstGeom prst="rect">
            <a:avLst/>
          </a:prstGeom>
          <a:solidFill>
            <a:srgbClr val="F8FAF8"/>
          </a:solidFill>
          <a:ln w="19050">
            <a:solidFill>
              <a:srgbClr val="72B86B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239000" y="2857500"/>
            <a:ext cx="76200" cy="1104900"/>
          </a:xfrm>
          <a:prstGeom prst="rect">
            <a:avLst/>
          </a:prstGeom>
          <a:solidFill>
            <a:srgbClr val="72B8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467600" y="30480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边缘 Agent</a:t>
            </a:r>
            <a:endParaRPr sz="1650" b="1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467600" y="3409950"/>
            <a:ext cx="20764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规则判断、队列、容错</a:t>
            </a:r>
            <a:endParaRPr sz="12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477500" y="2857500"/>
            <a:ext cx="2476500" cy="1104900"/>
          </a:xfrm>
          <a:prstGeom prst="rect">
            <a:avLst/>
          </a:prstGeom>
          <a:solidFill>
            <a:srgbClr val="F8FAF8"/>
          </a:solidFill>
          <a:ln w="19050">
            <a:solidFill>
              <a:srgbClr val="EF9B3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0477500" y="2857500"/>
            <a:ext cx="76200" cy="1104900"/>
          </a:xfrm>
          <a:prstGeom prst="rect">
            <a:avLst/>
          </a:prstGeom>
          <a:solidFill>
            <a:srgbClr val="EF9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706100" y="30480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设备执行</a:t>
            </a:r>
            <a:endParaRPr sz="1650" b="1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0706100" y="3409950"/>
            <a:ext cx="20764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灯、空调、报警器反馈</a:t>
            </a:r>
            <a:endParaRPr sz="12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238500" y="3390900"/>
            <a:ext cx="762000" cy="38100"/>
          </a:xfrm>
          <a:prstGeom prst="rect">
            <a:avLst/>
          </a:prstGeom>
          <a:solidFill>
            <a:srgbClr val="4F73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等腰三角形 26"/>
          <p:cNvSpPr>
            <a:spLocks noGrp="1"/>
          </p:cNvSpPr>
          <p:nvPr/>
        </p:nvSpPr>
        <p:spPr>
          <a:xfrm>
            <a:off x="3981450" y="3314700"/>
            <a:ext cx="171450" cy="171450"/>
          </a:xfrm>
          <a:prstGeom prst="triangle">
            <a:avLst/>
          </a:prstGeom>
          <a:solidFill>
            <a:srgbClr val="4F73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477000" y="3390900"/>
            <a:ext cx="762000" cy="38100"/>
          </a:xfrm>
          <a:prstGeom prst="rect">
            <a:avLst/>
          </a:prstGeom>
          <a:solidFill>
            <a:srgbClr val="4F73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等腰三角形 28"/>
          <p:cNvSpPr>
            <a:spLocks noGrp="1"/>
          </p:cNvSpPr>
          <p:nvPr/>
        </p:nvSpPr>
        <p:spPr>
          <a:xfrm>
            <a:off x="7219950" y="3314700"/>
            <a:ext cx="171450" cy="171450"/>
          </a:xfrm>
          <a:prstGeom prst="triangle">
            <a:avLst/>
          </a:prstGeom>
          <a:solidFill>
            <a:srgbClr val="4F73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715500" y="3390900"/>
            <a:ext cx="762000" cy="38100"/>
          </a:xfrm>
          <a:prstGeom prst="rect">
            <a:avLst/>
          </a:prstGeom>
          <a:solidFill>
            <a:srgbClr val="4F73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等腰三角形 30"/>
          <p:cNvSpPr>
            <a:spLocks noGrp="1"/>
          </p:cNvSpPr>
          <p:nvPr/>
        </p:nvSpPr>
        <p:spPr>
          <a:xfrm>
            <a:off x="10458450" y="3314700"/>
            <a:ext cx="171450" cy="171450"/>
          </a:xfrm>
          <a:prstGeom prst="triangle">
            <a:avLst/>
          </a:prstGeom>
          <a:solidFill>
            <a:srgbClr val="4F73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857500" y="5334000"/>
            <a:ext cx="9525000" cy="1143000"/>
          </a:xfrm>
          <a:prstGeom prst="rect">
            <a:avLst/>
          </a:prstGeom>
          <a:solidFill>
            <a:srgbClr val="0F1A2B"/>
          </a:solidFill>
          <a:ln w="9525">
            <a:solidFill>
              <a:srgbClr val="33445F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3143250" y="5562600"/>
            <a:ext cx="3810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Home Assistant 可视化层</a:t>
            </a:r>
            <a:endParaRPr sz="18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143250" y="5981700"/>
            <a:ext cx="857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C9D5E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C9D5E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展示实体状态、辅助观察系统运行；核心决策仍在边缘 Agent 本地完成。</a:t>
            </a:r>
            <a:endParaRPr sz="1500" b="0">
              <a:solidFill>
                <a:srgbClr val="C9D5E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238250" y="6762750"/>
            <a:ext cx="2857500" cy="1219200"/>
          </a:xfrm>
          <a:prstGeom prst="rect">
            <a:avLst/>
          </a:prstGeom>
          <a:solidFill>
            <a:srgbClr val="F8FAF8"/>
          </a:solidFill>
          <a:ln w="9525">
            <a:solidFill>
              <a:srgbClr val="CED8E4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238250" y="6762750"/>
            <a:ext cx="76200" cy="1219200"/>
          </a:xfrm>
          <a:prstGeom prst="rect">
            <a:avLst/>
          </a:prstGeom>
          <a:solidFill>
            <a:srgbClr val="37A8B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466850" y="6991350"/>
            <a:ext cx="247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37A8B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1">
                <a:solidFill>
                  <a:srgbClr val="37A8B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Docker</a:t>
            </a:r>
            <a:endParaRPr sz="2550" b="1">
              <a:solidFill>
                <a:srgbClr val="37A8B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466850" y="746760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Mosquitto + Home Assistant</a:t>
            </a:r>
            <a:endParaRPr sz="12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762500" y="6762750"/>
            <a:ext cx="3143250" cy="1219200"/>
          </a:xfrm>
          <a:prstGeom prst="rect">
            <a:avLst/>
          </a:prstGeom>
          <a:solidFill>
            <a:srgbClr val="F8FAF8"/>
          </a:solidFill>
          <a:ln w="9525">
            <a:solidFill>
              <a:srgbClr val="CED8E4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4762500" y="6762750"/>
            <a:ext cx="76200" cy="1219200"/>
          </a:xfrm>
          <a:prstGeom prst="rect">
            <a:avLst/>
          </a:prstGeom>
          <a:solidFill>
            <a:srgbClr val="72B8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4991100" y="6991350"/>
            <a:ext cx="2762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72B86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1">
                <a:solidFill>
                  <a:srgbClr val="72B86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Python</a:t>
            </a:r>
            <a:endParaRPr sz="2550" b="1">
              <a:solidFill>
                <a:srgbClr val="72B86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4991100" y="7467600"/>
            <a:ext cx="276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Agent / 传感器 / 设备模块</a:t>
            </a:r>
            <a:endParaRPr sz="12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572500" y="6762750"/>
            <a:ext cx="2857500" cy="1219200"/>
          </a:xfrm>
          <a:prstGeom prst="rect">
            <a:avLst/>
          </a:prstGeom>
          <a:solidFill>
            <a:srgbClr val="F8FAF8"/>
          </a:solidFill>
          <a:ln w="9525">
            <a:solidFill>
              <a:srgbClr val="CED8E4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572500" y="6762750"/>
            <a:ext cx="76200" cy="1219200"/>
          </a:xfrm>
          <a:prstGeom prst="rect">
            <a:avLst/>
          </a:prstGeom>
          <a:solidFill>
            <a:srgbClr val="EF9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801100" y="6991350"/>
            <a:ext cx="247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EF9B3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1">
                <a:solidFill>
                  <a:srgbClr val="EF9B3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CSV</a:t>
            </a:r>
            <a:endParaRPr sz="2550" b="1">
              <a:solidFill>
                <a:srgbClr val="EF9B3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801100" y="746760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任务级指标与实验结果</a:t>
            </a:r>
            <a:endParaRPr sz="12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EEF2F4">
              <a:alpha val="8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5240000" cy="876300"/>
          </a:xfrm>
          <a:prstGeom prst="rect">
            <a:avLst/>
          </a:prstGeom>
          <a:solidFill>
            <a:srgbClr val="13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876300"/>
            <a:ext cx="15240000" cy="47625"/>
          </a:xfrm>
          <a:prstGeom prst="rect">
            <a:avLst/>
          </a:prstGeom>
          <a:solidFill>
            <a:srgbClr val="37A8B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228600"/>
            <a:ext cx="476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期末汇报</a:t>
            </a:r>
            <a:endParaRPr sz="1500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097000" y="238125"/>
            <a:ext cx="66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05</a:t>
            </a:r>
            <a:endParaRPr sz="1575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143000"/>
            <a:ext cx="9715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代码结构：从演示系统扩展为实验系统</a:t>
            </a:r>
            <a:endParaRPr sz="2700" b="1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695450"/>
            <a:ext cx="10668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核心代码保留模块边界，新增 experiments 作为期末评估层</a:t>
            </a:r>
            <a:endParaRPr sz="15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66750" y="2190750"/>
            <a:ext cx="13906500" cy="2743200"/>
          </a:xfrm>
          <a:prstGeom prst="rect">
            <a:avLst/>
          </a:prstGeom>
          <a:solidFill>
            <a:srgbClr val="F8FAF8"/>
          </a:solidFill>
          <a:ln w="9525">
            <a:solidFill>
              <a:srgbClr val="CFD9E5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2324100"/>
            <a:ext cx="4724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文件</a:t>
            </a:r>
            <a:endParaRPr sz="1125" b="1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734050" y="2324100"/>
            <a:ext cx="2819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职责</a:t>
            </a:r>
            <a:endParaRPr sz="1125" b="1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782050" y="2324100"/>
            <a:ext cx="5676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期末新增价值</a:t>
            </a:r>
            <a:endParaRPr sz="1125" b="1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66750" y="2647950"/>
            <a:ext cx="139065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81050" y="2781300"/>
            <a:ext cx="4724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src/simulator/sensor_simulator.py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734050" y="2781300"/>
            <a:ext cx="2819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虚拟环境状态生成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782050" y="2781300"/>
            <a:ext cx="5676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周期发布温度、光照、门磁、PIR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66750" y="3105150"/>
            <a:ext cx="139065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3238500"/>
            <a:ext cx="4724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src/agent/edge_agent.py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734050" y="3238500"/>
            <a:ext cx="2819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边缘决策核心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782050" y="3238500"/>
            <a:ext cx="5676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规则判断、优先级任务、MQTT 控制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66750" y="3562350"/>
            <a:ext cx="139065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81050" y="3695700"/>
            <a:ext cx="4724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src/device/device_executor.py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34050" y="3695700"/>
            <a:ext cx="2819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设备执行反馈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782050" y="3695700"/>
            <a:ext cx="5676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订阅命令并发布设备状态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6750" y="4019550"/>
            <a:ext cx="139065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81050" y="4152900"/>
            <a:ext cx="4724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src/experiments/run_experiments.py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734050" y="4152900"/>
            <a:ext cx="2819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批量可靠性实验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782050" y="4152900"/>
            <a:ext cx="5676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延迟、丢包、离线、消融和图表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66750" y="4476750"/>
            <a:ext cx="139065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81050" y="4610100"/>
            <a:ext cx="4724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src/experiments/real_mqtt_validation.py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34050" y="4610100"/>
            <a:ext cx="2819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真实 MQTT 验证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782050" y="4610100"/>
            <a:ext cx="5676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启动真实 Agent 并记录事件时间线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571500" y="7762875"/>
            <a:ext cx="14097000" cy="419100"/>
          </a:xfrm>
          <a:prstGeom prst="rect">
            <a:avLst/>
          </a:prstGeom>
          <a:solidFill>
            <a:srgbClr val="E6EEF2"/>
          </a:solidFill>
          <a:ln w="9525">
            <a:solidFill>
              <a:srgbClr val="C8D5E2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42950" y="7858125"/>
            <a:ext cx="13754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新增实验层不替代原有演示系统，而是把系统行为转化为可复现、可对比、可写进论文的证据。</a:t>
            </a:r>
            <a:endParaRPr sz="1275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EEF2F4">
              <a:alpha val="8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5240000" cy="876300"/>
          </a:xfrm>
          <a:prstGeom prst="rect">
            <a:avLst/>
          </a:prstGeom>
          <a:solidFill>
            <a:srgbClr val="13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876300"/>
            <a:ext cx="15240000" cy="47625"/>
          </a:xfrm>
          <a:prstGeom prst="rect">
            <a:avLst/>
          </a:prstGeom>
          <a:solidFill>
            <a:srgbClr val="37A8B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228600"/>
            <a:ext cx="476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期末汇报</a:t>
            </a:r>
            <a:endParaRPr sz="1500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097000" y="238125"/>
            <a:ext cx="66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06</a:t>
            </a:r>
            <a:endParaRPr sz="1575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143000"/>
            <a:ext cx="9715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真实平台截图：Home Assistant 与运行证据</a:t>
            </a:r>
            <a:endParaRPr sz="2700" b="1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695450"/>
            <a:ext cx="10668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截图来自当前本机运行环境，不是手绘界面</a:t>
            </a:r>
            <a:endParaRPr sz="15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66750" y="2238375"/>
            <a:ext cx="6286500" cy="4000500"/>
          </a:xfrm>
          <a:prstGeom prst="rect">
            <a:avLst/>
          </a:prstGeom>
          <a:solidFill>
            <a:srgbClr val="F8FAF8"/>
          </a:solidFill>
          <a:ln w="9525">
            <a:solidFill>
              <a:srgbClr val="CED8E4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00860"/>
            <a:ext cx="6096000" cy="3675529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7524750" y="2238375"/>
            <a:ext cx="6858000" cy="4000500"/>
          </a:xfrm>
          <a:prstGeom prst="rect">
            <a:avLst/>
          </a:prstGeom>
          <a:solidFill>
            <a:srgbClr val="F8FAF8"/>
          </a:solidFill>
          <a:ln w="9525">
            <a:solidFill>
              <a:srgbClr val="CED8E4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rcRect t="22655" b="22655"/>
          <a:stretch>
            <a:fillRect/>
          </a:stretch>
        </p:blipFill>
        <p:spPr>
          <a:xfrm>
            <a:off x="7620000" y="2333625"/>
            <a:ext cx="6667500" cy="3810000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876300" y="6524625"/>
            <a:ext cx="13144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Home Assistant 已由 Docker 启动；当前截图显示平台入口。右侧证据截图包含 Docker 状态、真实 MQTT 事件与实验结果文件。</a:t>
            </a:r>
            <a:endParaRPr sz="1575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71500" y="7762875"/>
            <a:ext cx="14097000" cy="419100"/>
          </a:xfrm>
          <a:prstGeom prst="rect">
            <a:avLst/>
          </a:prstGeom>
          <a:solidFill>
            <a:srgbClr val="E6EEF2"/>
          </a:solidFill>
          <a:ln w="9525">
            <a:solidFill>
              <a:srgbClr val="C8D5E2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42950" y="7858125"/>
            <a:ext cx="13754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真实截图承担“系统确实运行”的证据角色；后续图表承担“机制是否有效”的量化分析角色。</a:t>
            </a:r>
            <a:endParaRPr sz="1275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EEF2F4">
              <a:alpha val="8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5240000" cy="876300"/>
          </a:xfrm>
          <a:prstGeom prst="rect">
            <a:avLst/>
          </a:prstGeom>
          <a:solidFill>
            <a:srgbClr val="13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876300"/>
            <a:ext cx="15240000" cy="47625"/>
          </a:xfrm>
          <a:prstGeom prst="rect">
            <a:avLst/>
          </a:prstGeom>
          <a:solidFill>
            <a:srgbClr val="37A8B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228600"/>
            <a:ext cx="476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期末汇报</a:t>
            </a:r>
            <a:endParaRPr sz="1500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097000" y="238125"/>
            <a:ext cx="66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07</a:t>
            </a:r>
            <a:endParaRPr sz="1575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143000"/>
            <a:ext cx="9715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Agent 机制深化：从规则触发到可靠控制</a:t>
            </a:r>
            <a:endParaRPr sz="2700" b="1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695450"/>
            <a:ext cx="10668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本次期末升级重点是让 Agent 具备判断、排队和确认能力</a:t>
            </a:r>
            <a:endParaRPr sz="15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2619375"/>
            <a:ext cx="2667000" cy="1200150"/>
          </a:xfrm>
          <a:prstGeom prst="rect">
            <a:avLst/>
          </a:prstGeom>
          <a:solidFill>
            <a:srgbClr val="F8FAF8"/>
          </a:solidFill>
          <a:ln w="19050">
            <a:solidFill>
              <a:srgbClr val="4F73D9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2619375"/>
            <a:ext cx="76200" cy="1200150"/>
          </a:xfrm>
          <a:prstGeom prst="rect">
            <a:avLst/>
          </a:prstGeom>
          <a:solidFill>
            <a:srgbClr val="4F73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85850" y="2809875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规则判断</a:t>
            </a:r>
            <a:endParaRPr sz="1650" b="1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85850" y="3171825"/>
            <a:ext cx="2266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门开 + 暗光；夜间门开 + 无人</a:t>
            </a:r>
            <a:endParaRPr sz="12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095750" y="2619375"/>
            <a:ext cx="2667000" cy="1200150"/>
          </a:xfrm>
          <a:prstGeom prst="rect">
            <a:avLst/>
          </a:prstGeom>
          <a:solidFill>
            <a:srgbClr val="F8FAF8"/>
          </a:solidFill>
          <a:ln w="19050">
            <a:solidFill>
              <a:srgbClr val="72B86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095750" y="2619375"/>
            <a:ext cx="76200" cy="1200150"/>
          </a:xfrm>
          <a:prstGeom prst="rect">
            <a:avLst/>
          </a:prstGeom>
          <a:solidFill>
            <a:srgbClr val="72B8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324350" y="2809875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优先级队列</a:t>
            </a:r>
            <a:endParaRPr sz="1650" b="1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324350" y="3171825"/>
            <a:ext cx="2266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报警 P1，舒适控制 P2/P3</a:t>
            </a:r>
            <a:endParaRPr sz="12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334250" y="2619375"/>
            <a:ext cx="2667000" cy="1200150"/>
          </a:xfrm>
          <a:prstGeom prst="rect">
            <a:avLst/>
          </a:prstGeom>
          <a:solidFill>
            <a:srgbClr val="F8FAF8"/>
          </a:solidFill>
          <a:ln w="19050">
            <a:solidFill>
              <a:srgbClr val="EF9B3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334250" y="2619375"/>
            <a:ext cx="76200" cy="1200150"/>
          </a:xfrm>
          <a:prstGeom prst="rect">
            <a:avLst/>
          </a:prstGeom>
          <a:solidFill>
            <a:srgbClr val="EF9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562850" y="2809875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状态可信度</a:t>
            </a:r>
            <a:endParaRPr sz="1650" b="1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562850" y="3171825"/>
            <a:ext cx="2266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超时传感器状态不再直接使用</a:t>
            </a:r>
            <a:endParaRPr sz="12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572750" y="2619375"/>
            <a:ext cx="2667000" cy="1200150"/>
          </a:xfrm>
          <a:prstGeom prst="rect">
            <a:avLst/>
          </a:prstGeom>
          <a:solidFill>
            <a:srgbClr val="F8FAF8"/>
          </a:solidFill>
          <a:ln w="19050">
            <a:solidFill>
              <a:srgbClr val="D95F59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0572750" y="2619375"/>
            <a:ext cx="76200" cy="1200150"/>
          </a:xfrm>
          <a:prstGeom prst="rect">
            <a:avLst/>
          </a:prstGeom>
          <a:solidFill>
            <a:srgbClr val="D95F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801350" y="2809875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执行确认</a:t>
            </a:r>
            <a:endParaRPr sz="1650" b="1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0801350" y="3171825"/>
            <a:ext cx="2266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等待 ACK，超时重试并记录失败</a:t>
            </a:r>
            <a:endParaRPr sz="12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524250" y="3219450"/>
            <a:ext cx="571500" cy="38100"/>
          </a:xfrm>
          <a:prstGeom prst="rect">
            <a:avLst/>
          </a:prstGeom>
          <a:solidFill>
            <a:srgbClr val="4F73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等腰三角形 26"/>
          <p:cNvSpPr>
            <a:spLocks noGrp="1"/>
          </p:cNvSpPr>
          <p:nvPr/>
        </p:nvSpPr>
        <p:spPr>
          <a:xfrm>
            <a:off x="4076700" y="3143250"/>
            <a:ext cx="171450" cy="171450"/>
          </a:xfrm>
          <a:prstGeom prst="triangle">
            <a:avLst/>
          </a:prstGeom>
          <a:solidFill>
            <a:srgbClr val="4F73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762750" y="3219450"/>
            <a:ext cx="571500" cy="38100"/>
          </a:xfrm>
          <a:prstGeom prst="rect">
            <a:avLst/>
          </a:prstGeom>
          <a:solidFill>
            <a:srgbClr val="4F73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等腰三角形 28"/>
          <p:cNvSpPr>
            <a:spLocks noGrp="1"/>
          </p:cNvSpPr>
          <p:nvPr/>
        </p:nvSpPr>
        <p:spPr>
          <a:xfrm>
            <a:off x="7315200" y="3143250"/>
            <a:ext cx="171450" cy="171450"/>
          </a:xfrm>
          <a:prstGeom prst="triangle">
            <a:avLst/>
          </a:prstGeom>
          <a:solidFill>
            <a:srgbClr val="4F73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0001250" y="3219450"/>
            <a:ext cx="571500" cy="38100"/>
          </a:xfrm>
          <a:prstGeom prst="rect">
            <a:avLst/>
          </a:prstGeom>
          <a:solidFill>
            <a:srgbClr val="4F73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等腰三角形 30"/>
          <p:cNvSpPr>
            <a:spLocks noGrp="1"/>
          </p:cNvSpPr>
          <p:nvPr/>
        </p:nvSpPr>
        <p:spPr>
          <a:xfrm>
            <a:off x="10553700" y="3143250"/>
            <a:ext cx="171450" cy="171450"/>
          </a:xfrm>
          <a:prstGeom prst="triangle">
            <a:avLst/>
          </a:prstGeom>
          <a:solidFill>
            <a:srgbClr val="4F73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619250" y="4953000"/>
            <a:ext cx="12001500" cy="2286000"/>
          </a:xfrm>
          <a:prstGeom prst="rect">
            <a:avLst/>
          </a:prstGeom>
          <a:solidFill>
            <a:srgbClr val="F8FAF8"/>
          </a:solidFill>
          <a:ln w="9525">
            <a:solidFill>
              <a:srgbClr val="CFD9E5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733550" y="5086350"/>
            <a:ext cx="2057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机制</a:t>
            </a:r>
            <a:endParaRPr sz="1125" b="1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019550" y="5086350"/>
            <a:ext cx="5105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设计</a:t>
            </a:r>
            <a:endParaRPr sz="1125" b="1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353550" y="5086350"/>
            <a:ext cx="415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实验关注点</a:t>
            </a:r>
            <a:endParaRPr sz="1125" b="1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619250" y="5410200"/>
            <a:ext cx="120015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733550" y="5543550"/>
            <a:ext cx="2057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普通规则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019550" y="5543550"/>
            <a:ext cx="5105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满足条件后直接发布控制命令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353550" y="5543550"/>
            <a:ext cx="415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无法确认结果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619250" y="5867400"/>
            <a:ext cx="120015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733550" y="6000750"/>
            <a:ext cx="2057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优先级调度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4019550" y="6000750"/>
            <a:ext cx="5105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关键任务优先派发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9353550" y="6000750"/>
            <a:ext cx="415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降低报警等待时间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619250" y="6324600"/>
            <a:ext cx="120015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733550" y="6457950"/>
            <a:ext cx="2057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状态过期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4019550" y="6457950"/>
            <a:ext cx="5105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忽略过旧传感器状态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9353550" y="6457950"/>
            <a:ext cx="415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减少基于旧状态的误判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619250" y="6781800"/>
            <a:ext cx="120015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1733550" y="6915150"/>
            <a:ext cx="2057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失败重试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4019550" y="6915150"/>
            <a:ext cx="5105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等待设备 ACK，失败后重试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9353550" y="6915150"/>
            <a:ext cx="415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提升任务成功率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EEF2F4">
              <a:alpha val="8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5240000" cy="876300"/>
          </a:xfrm>
          <a:prstGeom prst="rect">
            <a:avLst/>
          </a:prstGeom>
          <a:solidFill>
            <a:srgbClr val="13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876300"/>
            <a:ext cx="15240000" cy="47625"/>
          </a:xfrm>
          <a:prstGeom prst="rect">
            <a:avLst/>
          </a:prstGeom>
          <a:solidFill>
            <a:srgbClr val="37A8B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228600"/>
            <a:ext cx="476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期末汇报</a:t>
            </a:r>
            <a:endParaRPr sz="1500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097000" y="238125"/>
            <a:ext cx="66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08</a:t>
            </a:r>
            <a:endParaRPr sz="1575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143000"/>
            <a:ext cx="9715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实验设计：用不稳定通信条件检验机制价值</a:t>
            </a:r>
            <a:endParaRPr sz="2700" b="1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695450"/>
            <a:ext cx="10668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所有实验结果由脚本实际运行生成 CSV，再由 CSV 绘制图表</a:t>
            </a:r>
            <a:endParaRPr sz="15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52500" y="2381250"/>
            <a:ext cx="13335000" cy="2743200"/>
          </a:xfrm>
          <a:prstGeom prst="rect">
            <a:avLst/>
          </a:prstGeom>
          <a:solidFill>
            <a:srgbClr val="F8FAF8"/>
          </a:solidFill>
          <a:ln w="9525">
            <a:solidFill>
              <a:srgbClr val="CFD9E5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66800" y="2514600"/>
            <a:ext cx="2247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实验组</a:t>
            </a:r>
            <a:endParaRPr sz="1125" b="1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543300" y="2514600"/>
            <a:ext cx="6438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参数</a:t>
            </a:r>
            <a:endParaRPr sz="1125" b="1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210800" y="2514600"/>
            <a:ext cx="3962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指标</a:t>
            </a:r>
            <a:endParaRPr sz="1125" b="1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52500" y="2838450"/>
            <a:ext cx="133350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66800" y="2971800"/>
            <a:ext cx="2247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延迟实验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543300" y="2971800"/>
            <a:ext cx="6438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 / 100 / 200 / 500 / 800 ms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0210800" y="2971800"/>
            <a:ext cx="3962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平均响应时间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52500" y="3295650"/>
            <a:ext cx="133350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066800" y="3429000"/>
            <a:ext cx="2247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丢包实验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543300" y="3429000"/>
            <a:ext cx="6438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0% / 5% / 10% / 20% / 30% / 40%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210800" y="3429000"/>
            <a:ext cx="3962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任务成功率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52500" y="3752850"/>
            <a:ext cx="133350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066800" y="3886200"/>
            <a:ext cx="2247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策略对比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543300" y="3886200"/>
            <a:ext cx="6438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普通规则 / 优先级 / 容错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0210800" y="3886200"/>
            <a:ext cx="3962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成功率、报警等待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52500" y="4210050"/>
            <a:ext cx="133350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066800" y="4343400"/>
            <a:ext cx="2247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消融实验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543300" y="4343400"/>
            <a:ext cx="6438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拆分优先级、过期判断、失败重试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0210800" y="4343400"/>
            <a:ext cx="3962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机制贡献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52500" y="4667250"/>
            <a:ext cx="133350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066800" y="4800600"/>
            <a:ext cx="2247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真实 MQTT 验证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543300" y="4800600"/>
            <a:ext cx="6438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Docker broker + edge_agent.py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210800" y="4800600"/>
            <a:ext cx="3962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实际事件闭环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19250" y="5905500"/>
            <a:ext cx="2571750" cy="1219200"/>
          </a:xfrm>
          <a:prstGeom prst="rect">
            <a:avLst/>
          </a:prstGeom>
          <a:solidFill>
            <a:srgbClr val="F8FAF8"/>
          </a:solidFill>
          <a:ln w="9525">
            <a:solidFill>
              <a:srgbClr val="CED8E4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619250" y="5905500"/>
            <a:ext cx="76200" cy="1219200"/>
          </a:xfrm>
          <a:prstGeom prst="rect">
            <a:avLst/>
          </a:prstGeom>
          <a:solidFill>
            <a:srgbClr val="37A8B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847850" y="613410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37A8B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1">
                <a:solidFill>
                  <a:srgbClr val="37A8B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148</a:t>
            </a:r>
            <a:endParaRPr sz="2550" b="1">
              <a:solidFill>
                <a:srgbClr val="37A8B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847850" y="66103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次虚拟实验运行</a:t>
            </a:r>
            <a:endParaRPr sz="12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762500" y="5905500"/>
            <a:ext cx="2571750" cy="1219200"/>
          </a:xfrm>
          <a:prstGeom prst="rect">
            <a:avLst/>
          </a:prstGeom>
          <a:solidFill>
            <a:srgbClr val="F8FAF8"/>
          </a:solidFill>
          <a:ln w="9525">
            <a:solidFill>
              <a:srgbClr val="CED8E4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4762500" y="5905500"/>
            <a:ext cx="76200" cy="1219200"/>
          </a:xfrm>
          <a:prstGeom prst="rect">
            <a:avLst/>
          </a:prstGeom>
          <a:solidFill>
            <a:srgbClr val="72B8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4991100" y="613410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72B86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1">
                <a:solidFill>
                  <a:srgbClr val="72B86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4452</a:t>
            </a:r>
            <a:endParaRPr sz="2550" b="1">
              <a:solidFill>
                <a:srgbClr val="72B86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4991100" y="66103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条任务级记录</a:t>
            </a:r>
            <a:endParaRPr sz="12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905750" y="5905500"/>
            <a:ext cx="2571750" cy="1219200"/>
          </a:xfrm>
          <a:prstGeom prst="rect">
            <a:avLst/>
          </a:prstGeom>
          <a:solidFill>
            <a:srgbClr val="F8FAF8"/>
          </a:solidFill>
          <a:ln w="9525">
            <a:solidFill>
              <a:srgbClr val="CED8E4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7905750" y="5905500"/>
            <a:ext cx="76200" cy="1219200"/>
          </a:xfrm>
          <a:prstGeom prst="rect">
            <a:avLst/>
          </a:prstGeom>
          <a:solidFill>
            <a:srgbClr val="EF9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134350" y="613410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EF9B3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1">
                <a:solidFill>
                  <a:srgbClr val="EF9B3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25</a:t>
            </a:r>
            <a:endParaRPr sz="2550" b="1">
              <a:solidFill>
                <a:srgbClr val="EF9B3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134350" y="66103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条真实 MQTT 事件</a:t>
            </a:r>
            <a:endParaRPr sz="12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1049000" y="5905500"/>
            <a:ext cx="2571750" cy="1219200"/>
          </a:xfrm>
          <a:prstGeom prst="rect">
            <a:avLst/>
          </a:prstGeom>
          <a:solidFill>
            <a:srgbClr val="F8FAF8"/>
          </a:solidFill>
          <a:ln w="9525">
            <a:solidFill>
              <a:srgbClr val="CED8E4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11049000" y="5905500"/>
            <a:ext cx="76200" cy="1219200"/>
          </a:xfrm>
          <a:prstGeom prst="rect">
            <a:avLst/>
          </a:prstGeom>
          <a:solidFill>
            <a:srgbClr val="7669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1277600" y="613410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7669D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1">
                <a:solidFill>
                  <a:srgbClr val="7669D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7</a:t>
            </a:r>
            <a:endParaRPr sz="2550" b="1">
              <a:solidFill>
                <a:srgbClr val="7669D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1277600" y="66103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张结果图表</a:t>
            </a:r>
            <a:endParaRPr sz="12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EEF2F4">
              <a:alpha val="8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5240000" cy="876300"/>
          </a:xfrm>
          <a:prstGeom prst="rect">
            <a:avLst/>
          </a:prstGeom>
          <a:solidFill>
            <a:srgbClr val="13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876300"/>
            <a:ext cx="15240000" cy="47625"/>
          </a:xfrm>
          <a:prstGeom prst="rect">
            <a:avLst/>
          </a:prstGeom>
          <a:solidFill>
            <a:srgbClr val="37A8B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228600"/>
            <a:ext cx="476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期末汇报</a:t>
            </a:r>
            <a:endParaRPr sz="1500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097000" y="238125"/>
            <a:ext cx="66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09</a:t>
            </a:r>
            <a:endParaRPr sz="1575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143000"/>
            <a:ext cx="9715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结果一：网络延迟越高，端到端响应时间越长</a:t>
            </a:r>
            <a:endParaRPr sz="2700" b="1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695450"/>
            <a:ext cx="10668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容错 Agent 通过 ACK 确认记录真实完成时间，而不是仅记录命令发送时间</a:t>
            </a:r>
            <a:endParaRPr sz="15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428750" y="2190750"/>
            <a:ext cx="12382500" cy="5334000"/>
          </a:xfrm>
          <a:prstGeom prst="rect">
            <a:avLst/>
          </a:prstGeom>
          <a:solidFill>
            <a:srgbClr val="F8FAF8"/>
          </a:solidFill>
          <a:ln w="9525">
            <a:solidFill>
              <a:srgbClr val="CED8E4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2286000"/>
            <a:ext cx="9144000" cy="514350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571500" y="7762875"/>
            <a:ext cx="14097000" cy="419100"/>
          </a:xfrm>
          <a:prstGeom prst="rect">
            <a:avLst/>
          </a:prstGeom>
          <a:solidFill>
            <a:srgbClr val="E6EEF2"/>
          </a:solidFill>
          <a:ln w="9525">
            <a:solidFill>
              <a:srgbClr val="C8D5E2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7858125"/>
            <a:ext cx="13754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最大延迟从 0ms 增至 800ms 时，平均响应时间从约 434ms 增至约 2049ms，说明通信延迟直接影响用户感知响应。</a:t>
            </a:r>
            <a:endParaRPr sz="1275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EEF2F4">
              <a:alpha val="8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5240000" cy="876300"/>
          </a:xfrm>
          <a:prstGeom prst="rect">
            <a:avLst/>
          </a:prstGeom>
          <a:solidFill>
            <a:srgbClr val="13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876300"/>
            <a:ext cx="15240000" cy="47625"/>
          </a:xfrm>
          <a:prstGeom prst="rect">
            <a:avLst/>
          </a:prstGeom>
          <a:solidFill>
            <a:srgbClr val="37A8B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228600"/>
            <a:ext cx="476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期末汇报</a:t>
            </a:r>
            <a:endParaRPr sz="1500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097000" y="238125"/>
            <a:ext cx="66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10</a:t>
            </a:r>
            <a:endParaRPr sz="1575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143000"/>
            <a:ext cx="9715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结果二：丢包率上升会压低任务成功率</a:t>
            </a:r>
            <a:endParaRPr sz="2700" b="1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695450"/>
            <a:ext cx="10668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失败重试能缓冲中低丢包，但高丢包下成功率仍会下降</a:t>
            </a:r>
            <a:endParaRPr sz="15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428750" y="2190750"/>
            <a:ext cx="12382500" cy="5334000"/>
          </a:xfrm>
          <a:prstGeom prst="rect">
            <a:avLst/>
          </a:prstGeom>
          <a:solidFill>
            <a:srgbClr val="F8FAF8"/>
          </a:solidFill>
          <a:ln w="9525">
            <a:solidFill>
              <a:srgbClr val="CED8E4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2286000"/>
            <a:ext cx="9144000" cy="514350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571500" y="7762875"/>
            <a:ext cx="14097000" cy="419100"/>
          </a:xfrm>
          <a:prstGeom prst="rect">
            <a:avLst/>
          </a:prstGeom>
          <a:solidFill>
            <a:srgbClr val="E6EEF2"/>
          </a:solidFill>
          <a:ln w="9525">
            <a:solidFill>
              <a:srgbClr val="C8D5E2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7858125"/>
            <a:ext cx="13754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丢包率升至 40% 时，容错 Agent 仍保持约 88.3% 的任务成功率，但响应时间与重试开销同步增加。</a:t>
            </a:r>
            <a:endParaRPr sz="1275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EEF2F4">
              <a:alpha val="8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5240000" cy="876300"/>
          </a:xfrm>
          <a:prstGeom prst="rect">
            <a:avLst/>
          </a:prstGeom>
          <a:solidFill>
            <a:srgbClr val="13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876300"/>
            <a:ext cx="15240000" cy="47625"/>
          </a:xfrm>
          <a:prstGeom prst="rect">
            <a:avLst/>
          </a:prstGeom>
          <a:solidFill>
            <a:srgbClr val="37A8B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228600"/>
            <a:ext cx="476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期末汇报</a:t>
            </a:r>
            <a:endParaRPr sz="1500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097000" y="238125"/>
            <a:ext cx="66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11</a:t>
            </a:r>
            <a:endParaRPr sz="1575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143000"/>
            <a:ext cx="9715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结果三：策略对比显示“成功率”和“等待时间”不是同一件事</a:t>
            </a:r>
            <a:endParaRPr sz="2700" b="1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695450"/>
            <a:ext cx="10668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优先级降低关键任务等待，容错机制提升整体成功率</a:t>
            </a:r>
            <a:endParaRPr sz="15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38250" y="2095500"/>
            <a:ext cx="12763500" cy="5476875"/>
          </a:xfrm>
          <a:prstGeom prst="rect">
            <a:avLst/>
          </a:prstGeom>
          <a:solidFill>
            <a:srgbClr val="F8FAF8"/>
          </a:solidFill>
          <a:ln w="9525">
            <a:solidFill>
              <a:srgbClr val="CED8E4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0" y="2190750"/>
            <a:ext cx="9398000" cy="5286375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571500" y="7762875"/>
            <a:ext cx="14097000" cy="419100"/>
          </a:xfrm>
          <a:prstGeom prst="rect">
            <a:avLst/>
          </a:prstGeom>
          <a:solidFill>
            <a:srgbClr val="E6EEF2"/>
          </a:solidFill>
          <a:ln w="9525">
            <a:solidFill>
              <a:srgbClr val="C8D5E2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7858125"/>
            <a:ext cx="13754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在 300ms 延迟、15% 丢包、8% 离线条件下，容错 Agent 成功率约 96.5%；优先级机制将报警平均排队等待从约 1149ms 降至约 644ms。</a:t>
            </a:r>
            <a:endParaRPr sz="1275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EEF2F4">
              <a:alpha val="8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5240000" cy="876300"/>
          </a:xfrm>
          <a:prstGeom prst="rect">
            <a:avLst/>
          </a:prstGeom>
          <a:solidFill>
            <a:srgbClr val="13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876300"/>
            <a:ext cx="15240000" cy="47625"/>
          </a:xfrm>
          <a:prstGeom prst="rect">
            <a:avLst/>
          </a:prstGeom>
          <a:solidFill>
            <a:srgbClr val="37A8B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228600"/>
            <a:ext cx="476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期末汇报</a:t>
            </a:r>
            <a:endParaRPr sz="1500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097000" y="238125"/>
            <a:ext cx="66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12</a:t>
            </a:r>
            <a:endParaRPr sz="1575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143000"/>
            <a:ext cx="9715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结果四：报警任务需要单独评估及时性与完成率</a:t>
            </a:r>
            <a:endParaRPr sz="2700" b="1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695450"/>
            <a:ext cx="10668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安全任务不能只看平均成功率，还要看关键场景是否能触发</a:t>
            </a:r>
            <a:endParaRPr sz="15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47750" y="2238375"/>
            <a:ext cx="6096000" cy="4476750"/>
          </a:xfrm>
          <a:prstGeom prst="rect">
            <a:avLst/>
          </a:prstGeom>
          <a:solidFill>
            <a:srgbClr val="F8FAF8"/>
          </a:solidFill>
          <a:ln w="9525">
            <a:solidFill>
              <a:srgbClr val="CED8E4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815828"/>
            <a:ext cx="5905500" cy="3321844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8096250" y="2238375"/>
            <a:ext cx="6096000" cy="4476750"/>
          </a:xfrm>
          <a:prstGeom prst="rect">
            <a:avLst/>
          </a:prstGeom>
          <a:solidFill>
            <a:srgbClr val="F8FAF8"/>
          </a:solidFill>
          <a:ln w="9525">
            <a:solidFill>
              <a:srgbClr val="CED8E4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2815828"/>
            <a:ext cx="5905500" cy="3321844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571500" y="7762875"/>
            <a:ext cx="14097000" cy="419100"/>
          </a:xfrm>
          <a:prstGeom prst="rect">
            <a:avLst/>
          </a:prstGeom>
          <a:solidFill>
            <a:srgbClr val="E6EEF2"/>
          </a:solidFill>
          <a:ln w="9525">
            <a:solidFill>
              <a:srgbClr val="C8D5E2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42950" y="7858125"/>
            <a:ext cx="13754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报警完成率体现安全闭环是否成立；队列等待分布说明调度策略是否把关键任务提前处理。</a:t>
            </a:r>
            <a:endParaRPr sz="1275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EEF2F4">
              <a:alpha val="8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5240000" cy="876300"/>
          </a:xfrm>
          <a:prstGeom prst="rect">
            <a:avLst/>
          </a:prstGeom>
          <a:solidFill>
            <a:srgbClr val="13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876300"/>
            <a:ext cx="15240000" cy="47625"/>
          </a:xfrm>
          <a:prstGeom prst="rect">
            <a:avLst/>
          </a:prstGeom>
          <a:solidFill>
            <a:srgbClr val="37A8B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228600"/>
            <a:ext cx="476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期末汇报</a:t>
            </a:r>
            <a:endParaRPr sz="1500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097000" y="238125"/>
            <a:ext cx="66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13</a:t>
            </a:r>
            <a:endParaRPr sz="1575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143000"/>
            <a:ext cx="9715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消融实验：失败重试是成功率提升的主要来源</a:t>
            </a:r>
            <a:endParaRPr sz="2700" b="1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695450"/>
            <a:ext cx="10668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状态过期判断提升报警可靠性，重试机制显著提升整体完成率</a:t>
            </a:r>
            <a:endParaRPr sz="15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38250" y="2047875"/>
            <a:ext cx="12763500" cy="5619750"/>
          </a:xfrm>
          <a:prstGeom prst="rect">
            <a:avLst/>
          </a:prstGeom>
          <a:solidFill>
            <a:srgbClr val="F8FAF8"/>
          </a:solidFill>
          <a:ln w="9525">
            <a:solidFill>
              <a:srgbClr val="CED8E4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0" y="2143125"/>
            <a:ext cx="9652000" cy="542925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571500" y="7762875"/>
            <a:ext cx="14097000" cy="419100"/>
          </a:xfrm>
          <a:prstGeom prst="rect">
            <a:avLst/>
          </a:prstGeom>
          <a:solidFill>
            <a:srgbClr val="E6EEF2"/>
          </a:solidFill>
          <a:ln w="9525">
            <a:solidFill>
              <a:srgbClr val="C8D5E2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7858125"/>
            <a:ext cx="13754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完整容错 Agent 任务成功率约 96.1%；“优先级+重试”已达约 93.6%，说明 ACK 确认与重试是抵抗丢包/离线的关键机制。</a:t>
            </a:r>
            <a:endParaRPr sz="1275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EEF2F4">
              <a:alpha val="8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5240000" cy="876300"/>
          </a:xfrm>
          <a:prstGeom prst="rect">
            <a:avLst/>
          </a:prstGeom>
          <a:solidFill>
            <a:srgbClr val="13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876300"/>
            <a:ext cx="15240000" cy="47625"/>
          </a:xfrm>
          <a:prstGeom prst="rect">
            <a:avLst/>
          </a:prstGeom>
          <a:solidFill>
            <a:srgbClr val="37A8B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228600"/>
            <a:ext cx="476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期末汇报</a:t>
            </a:r>
            <a:endParaRPr sz="1500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097000" y="238125"/>
            <a:ext cx="66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14</a:t>
            </a:r>
            <a:endParaRPr sz="1575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143000"/>
            <a:ext cx="9715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消融实验关键数字：每个机制贡献不同</a:t>
            </a:r>
            <a:endParaRPr sz="2700" b="1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695450"/>
            <a:ext cx="10668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表格用于回答“到底是哪一部分起作用”</a:t>
            </a:r>
            <a:endParaRPr sz="15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62000" y="2333625"/>
            <a:ext cx="13716000" cy="2743200"/>
          </a:xfrm>
          <a:prstGeom prst="rect">
            <a:avLst/>
          </a:prstGeom>
          <a:solidFill>
            <a:srgbClr val="F8FAF8"/>
          </a:solidFill>
          <a:ln w="9525">
            <a:solidFill>
              <a:srgbClr val="CFD9E5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76300" y="2466975"/>
            <a:ext cx="2438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版本</a:t>
            </a:r>
            <a:endParaRPr sz="1125" b="1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543300" y="2466975"/>
            <a:ext cx="177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任务成功率</a:t>
            </a:r>
            <a:endParaRPr sz="1125" b="1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543550" y="2466975"/>
            <a:ext cx="177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报警完成率</a:t>
            </a:r>
            <a:endParaRPr sz="1125" b="1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543800" y="2466975"/>
            <a:ext cx="177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平均响应</a:t>
            </a:r>
            <a:endParaRPr sz="1125" b="1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544050" y="2466975"/>
            <a:ext cx="4819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结论</a:t>
            </a:r>
            <a:endParaRPr sz="1125" b="1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62000" y="2790825"/>
            <a:ext cx="137160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76300" y="2924175"/>
            <a:ext cx="2438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普通规则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543300" y="2924175"/>
            <a:ext cx="177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66.5%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543550" y="2924175"/>
            <a:ext cx="177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71.7%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543800" y="2924175"/>
            <a:ext cx="177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1175ms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544050" y="2924175"/>
            <a:ext cx="4819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基线，无确认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62000" y="3248025"/>
            <a:ext cx="137160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76300" y="3381375"/>
            <a:ext cx="2438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优先级调度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543300" y="3381375"/>
            <a:ext cx="177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62.2%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543550" y="3381375"/>
            <a:ext cx="177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70.0%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543800" y="3381375"/>
            <a:ext cx="177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1120ms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544050" y="3381375"/>
            <a:ext cx="4819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降低报警等待，但不抗丢包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62000" y="3705225"/>
            <a:ext cx="137160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76300" y="3838575"/>
            <a:ext cx="2438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优先级+过期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543300" y="3838575"/>
            <a:ext cx="177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63.3%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543550" y="3838575"/>
            <a:ext cx="177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86.7%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543800" y="3838575"/>
            <a:ext cx="177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1129ms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544050" y="3838575"/>
            <a:ext cx="4819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报警可靠性提升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62000" y="4162425"/>
            <a:ext cx="137160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76300" y="4295775"/>
            <a:ext cx="2438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优先级+重试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543300" y="4295775"/>
            <a:ext cx="177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93.6%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543550" y="4295775"/>
            <a:ext cx="177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86.7%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543800" y="4295775"/>
            <a:ext cx="177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2503ms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544050" y="4295775"/>
            <a:ext cx="4819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成功率显著提升，响应变慢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62000" y="4619625"/>
            <a:ext cx="137160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76300" y="4752975"/>
            <a:ext cx="2438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完整容错 Agent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3543300" y="4752975"/>
            <a:ext cx="177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96.1%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5543550" y="4752975"/>
            <a:ext cx="177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91.7%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543800" y="4752975"/>
            <a:ext cx="177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2646ms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9544050" y="4752975"/>
            <a:ext cx="4819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稳定性最高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524000" y="5695950"/>
            <a:ext cx="85725" cy="85725"/>
          </a:xfrm>
          <a:prstGeom prst="rect">
            <a:avLst/>
          </a:prstGeom>
          <a:solidFill>
            <a:srgbClr val="72B8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1752600" y="5619750"/>
            <a:ext cx="11010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优先级解决“先做哪个任务”的问题。</a:t>
            </a:r>
            <a:endParaRPr sz="1725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524000" y="6153150"/>
            <a:ext cx="85725" cy="85725"/>
          </a:xfrm>
          <a:prstGeom prst="rect">
            <a:avLst/>
          </a:prstGeom>
          <a:solidFill>
            <a:srgbClr val="EF9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1752600" y="6076950"/>
            <a:ext cx="11010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状态过期解决“状态是否可信”的问题。</a:t>
            </a:r>
            <a:endParaRPr sz="1725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1524000" y="6610350"/>
            <a:ext cx="85725" cy="85725"/>
          </a:xfrm>
          <a:prstGeom prst="rect">
            <a:avLst/>
          </a:prstGeom>
          <a:solidFill>
            <a:srgbClr val="D95F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1752600" y="6534150"/>
            <a:ext cx="11010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失败重试解决“命令是否真正执行”的问题。</a:t>
            </a:r>
            <a:endParaRPr sz="1725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571500" y="7762875"/>
            <a:ext cx="14097000" cy="419100"/>
          </a:xfrm>
          <a:prstGeom prst="rect">
            <a:avLst/>
          </a:prstGeom>
          <a:solidFill>
            <a:srgbClr val="E6EEF2"/>
          </a:solidFill>
          <a:ln w="9525">
            <a:solidFill>
              <a:srgbClr val="C8D5E2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742950" y="7858125"/>
            <a:ext cx="13754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系统结论不是“加功能越多越好”，而是稳定性和响应时间之间需要权衡。</a:t>
            </a:r>
            <a:endParaRPr sz="1275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EEF2F4">
              <a:alpha val="8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5240000" cy="876300"/>
          </a:xfrm>
          <a:prstGeom prst="rect">
            <a:avLst/>
          </a:prstGeom>
          <a:solidFill>
            <a:srgbClr val="13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876300"/>
            <a:ext cx="15240000" cy="47625"/>
          </a:xfrm>
          <a:prstGeom prst="rect">
            <a:avLst/>
          </a:prstGeom>
          <a:solidFill>
            <a:srgbClr val="37A8B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228600"/>
            <a:ext cx="476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期末汇报</a:t>
            </a:r>
            <a:endParaRPr sz="1500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097000" y="238125"/>
            <a:ext cx="66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15</a:t>
            </a:r>
            <a:endParaRPr sz="1575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143000"/>
            <a:ext cx="9715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真实 MQTT 验证：不只停留在离线仿真</a:t>
            </a:r>
            <a:endParaRPr sz="2700" b="1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695450"/>
            <a:ext cx="10668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实际 broker 上观察到传感器发布、Agent 派发和设备状态反馈</a:t>
            </a:r>
            <a:endParaRPr sz="15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62000" y="2095500"/>
            <a:ext cx="6858000" cy="4333875"/>
          </a:xfrm>
          <a:prstGeom prst="rect">
            <a:avLst/>
          </a:prstGeom>
          <a:solidFill>
            <a:srgbClr val="F8FAF8"/>
          </a:solidFill>
          <a:ln w="9525">
            <a:solidFill>
              <a:srgbClr val="CED8E4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387203"/>
            <a:ext cx="6667500" cy="3750469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8382000" y="2381250"/>
            <a:ext cx="5334000" cy="3200400"/>
          </a:xfrm>
          <a:prstGeom prst="rect">
            <a:avLst/>
          </a:prstGeom>
          <a:solidFill>
            <a:srgbClr val="F8FAF8"/>
          </a:solidFill>
          <a:ln w="9525">
            <a:solidFill>
              <a:srgbClr val="CFD9E5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496300" y="2514600"/>
            <a:ext cx="1581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项目</a:t>
            </a:r>
            <a:endParaRPr sz="1125" b="1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306050" y="2514600"/>
            <a:ext cx="3295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真实验证结果</a:t>
            </a:r>
            <a:endParaRPr sz="1125" b="1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82000" y="2838450"/>
            <a:ext cx="53340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496300" y="2971800"/>
            <a:ext cx="1581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Broker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0306050" y="2971800"/>
            <a:ext cx="3295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127.0.0.1:1883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82000" y="3295650"/>
            <a:ext cx="53340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496300" y="3429000"/>
            <a:ext cx="1581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验证结果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306050" y="3429000"/>
            <a:ext cx="3295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true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382000" y="3752850"/>
            <a:ext cx="53340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496300" y="3886200"/>
            <a:ext cx="1581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观察事件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0306050" y="3886200"/>
            <a:ext cx="3295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25 条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382000" y="4210050"/>
            <a:ext cx="53340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496300" y="4343400"/>
            <a:ext cx="1581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报警命令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306050" y="4343400"/>
            <a:ext cx="3295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alarm=on 已派发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382000" y="4667250"/>
            <a:ext cx="53340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496300" y="4800600"/>
            <a:ext cx="1581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灯光命令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0306050" y="4800600"/>
            <a:ext cx="3295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light=on 已派发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382000" y="5124450"/>
            <a:ext cx="53340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496300" y="5257800"/>
            <a:ext cx="1581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设备反馈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0306050" y="5257800"/>
            <a:ext cx="3295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home/devices/state 已确认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71500" y="7762875"/>
            <a:ext cx="14097000" cy="419100"/>
          </a:xfrm>
          <a:prstGeom prst="rect">
            <a:avLst/>
          </a:prstGeom>
          <a:solidFill>
            <a:srgbClr val="E6EEF2"/>
          </a:solidFill>
          <a:ln w="9525">
            <a:solidFill>
              <a:srgbClr val="C8D5E2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42950" y="7858125"/>
            <a:ext cx="13754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大规模指标来自仿真实验；系统闭环则通过真实 Docker + MQTT + edge_agent.py 验证。</a:t>
            </a:r>
            <a:endParaRPr sz="1275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EEF2F4">
              <a:alpha val="8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5240000" cy="876300"/>
          </a:xfrm>
          <a:prstGeom prst="rect">
            <a:avLst/>
          </a:prstGeom>
          <a:solidFill>
            <a:srgbClr val="13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876300"/>
            <a:ext cx="15240000" cy="47625"/>
          </a:xfrm>
          <a:prstGeom prst="rect">
            <a:avLst/>
          </a:prstGeom>
          <a:solidFill>
            <a:srgbClr val="37A8B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228600"/>
            <a:ext cx="476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期末汇报</a:t>
            </a:r>
            <a:endParaRPr sz="1500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097000" y="238125"/>
            <a:ext cx="66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16</a:t>
            </a:r>
            <a:endParaRPr sz="1575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143000"/>
            <a:ext cx="9715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典型报警任务时间线：从异常状态到 ACK 确认</a:t>
            </a:r>
            <a:endParaRPr sz="2700" b="1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695450"/>
            <a:ext cx="10668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时间线来自任务级 CSV 中一条成功的 night-door-anomaly 记录</a:t>
            </a:r>
            <a:endParaRPr sz="15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47750" y="2190750"/>
            <a:ext cx="13144500" cy="5334000"/>
          </a:xfrm>
          <a:prstGeom prst="rect">
            <a:avLst/>
          </a:prstGeom>
          <a:solidFill>
            <a:srgbClr val="F8FAF8"/>
          </a:solidFill>
          <a:ln w="9525">
            <a:solidFill>
              <a:srgbClr val="CED8E4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2286000"/>
            <a:ext cx="9144000" cy="514350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571500" y="7762875"/>
            <a:ext cx="14097000" cy="419100"/>
          </a:xfrm>
          <a:prstGeom prst="rect">
            <a:avLst/>
          </a:prstGeom>
          <a:solidFill>
            <a:srgbClr val="E6EEF2"/>
          </a:solidFill>
          <a:ln w="9525">
            <a:solidFill>
              <a:srgbClr val="C8D5E2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7858125"/>
            <a:ext cx="13754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该例展示容错 Agent 的完整闭环：触发并入队、首次派发、超时重试、设备 ACK 确认。</a:t>
            </a:r>
            <a:endParaRPr sz="1275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EEF2F4">
              <a:alpha val="8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5240000" cy="876300"/>
          </a:xfrm>
          <a:prstGeom prst="rect">
            <a:avLst/>
          </a:prstGeom>
          <a:solidFill>
            <a:srgbClr val="13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876300"/>
            <a:ext cx="15240000" cy="47625"/>
          </a:xfrm>
          <a:prstGeom prst="rect">
            <a:avLst/>
          </a:prstGeom>
          <a:solidFill>
            <a:srgbClr val="37A8B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228600"/>
            <a:ext cx="476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期末汇报</a:t>
            </a:r>
            <a:endParaRPr sz="1500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097000" y="238125"/>
            <a:ext cx="66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AEBB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17</a:t>
            </a:r>
            <a:endParaRPr sz="1575" b="0">
              <a:solidFill>
                <a:srgbClr val="AEBB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143000"/>
            <a:ext cx="9715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阶段性成果：从可演示系统到可评估系统</a:t>
            </a:r>
            <a:endParaRPr sz="2700" b="1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695450"/>
            <a:ext cx="10668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期末成果可以围绕三条贡献线展开</a:t>
            </a:r>
            <a:endParaRPr sz="15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38250" y="2476500"/>
            <a:ext cx="12763500" cy="1828800"/>
          </a:xfrm>
          <a:prstGeom prst="rect">
            <a:avLst/>
          </a:prstGeom>
          <a:solidFill>
            <a:srgbClr val="F8FAF8"/>
          </a:solidFill>
          <a:ln w="9525">
            <a:solidFill>
              <a:srgbClr val="CFD9E5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352550" y="2609850"/>
            <a:ext cx="2057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贡献</a:t>
            </a:r>
            <a:endParaRPr sz="1125" b="1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638550" y="2609850"/>
            <a:ext cx="10248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内容</a:t>
            </a:r>
            <a:endParaRPr sz="1125" b="1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238250" y="2933700"/>
            <a:ext cx="127635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352550" y="3067050"/>
            <a:ext cx="2057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系统实现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638550" y="3067050"/>
            <a:ext cx="10248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完成传感器、MQTT、Agent、设备执行、Home Assistant 的本地闭环。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238250" y="3390900"/>
            <a:ext cx="127635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352550" y="3524250"/>
            <a:ext cx="2057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机制设计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638550" y="3524250"/>
            <a:ext cx="10248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加入优先级调度、状态过期判断、ACK 确认与超时重试。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238250" y="3848100"/>
            <a:ext cx="12763500" cy="9525"/>
          </a:xfrm>
          <a:prstGeom prst="rect">
            <a:avLst/>
          </a:prstGeom>
          <a:solidFill>
            <a:srgbClr val="DDE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352550" y="3981450"/>
            <a:ext cx="2057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实验评估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638550" y="3981450"/>
            <a:ext cx="10248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完成延迟、丢包、设备离线、策略对比、消融和真实 MQTT 验证。</a:t>
            </a:r>
            <a:endParaRPr sz="1200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714500" y="5476875"/>
            <a:ext cx="2857500" cy="1219200"/>
          </a:xfrm>
          <a:prstGeom prst="rect">
            <a:avLst/>
          </a:prstGeom>
          <a:solidFill>
            <a:srgbClr val="F8FAF8"/>
          </a:solidFill>
          <a:ln w="9525">
            <a:solidFill>
              <a:srgbClr val="CED8E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714500" y="5476875"/>
            <a:ext cx="76200" cy="1219200"/>
          </a:xfrm>
          <a:prstGeom prst="rect">
            <a:avLst/>
          </a:prstGeom>
          <a:solidFill>
            <a:srgbClr val="72B8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943100" y="5705475"/>
            <a:ext cx="247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72B86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1">
                <a:solidFill>
                  <a:srgbClr val="72B86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96.1%</a:t>
            </a:r>
            <a:endParaRPr sz="2550" b="1">
              <a:solidFill>
                <a:srgbClr val="72B86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943100" y="6181725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完整容错 Agent 成功率</a:t>
            </a:r>
            <a:endParaRPr sz="12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953000" y="5476875"/>
            <a:ext cx="2857500" cy="1219200"/>
          </a:xfrm>
          <a:prstGeom prst="rect">
            <a:avLst/>
          </a:prstGeom>
          <a:solidFill>
            <a:srgbClr val="F8FAF8"/>
          </a:solidFill>
          <a:ln w="9525">
            <a:solidFill>
              <a:srgbClr val="CED8E4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953000" y="5476875"/>
            <a:ext cx="76200" cy="1219200"/>
          </a:xfrm>
          <a:prstGeom prst="rect">
            <a:avLst/>
          </a:prstGeom>
          <a:solidFill>
            <a:srgbClr val="37A8B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5181600" y="5705475"/>
            <a:ext cx="247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37A8B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1">
                <a:solidFill>
                  <a:srgbClr val="37A8B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88.3%</a:t>
            </a:r>
            <a:endParaRPr sz="2550" b="1">
              <a:solidFill>
                <a:srgbClr val="37A8B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181600" y="6181725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40% 丢包下成功率</a:t>
            </a:r>
            <a:endParaRPr sz="12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191500" y="5476875"/>
            <a:ext cx="2857500" cy="1219200"/>
          </a:xfrm>
          <a:prstGeom prst="rect">
            <a:avLst/>
          </a:prstGeom>
          <a:solidFill>
            <a:srgbClr val="F8FAF8"/>
          </a:solidFill>
          <a:ln w="9525">
            <a:solidFill>
              <a:srgbClr val="CED8E4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191500" y="5476875"/>
            <a:ext cx="76200" cy="1219200"/>
          </a:xfrm>
          <a:prstGeom prst="rect">
            <a:avLst/>
          </a:prstGeom>
          <a:solidFill>
            <a:srgbClr val="EF9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420100" y="5705475"/>
            <a:ext cx="247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EF9B3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1">
                <a:solidFill>
                  <a:srgbClr val="EF9B3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644ms</a:t>
            </a:r>
            <a:endParaRPr sz="2550" b="1">
              <a:solidFill>
                <a:srgbClr val="EF9B3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420100" y="6181725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优先级报警等待时间</a:t>
            </a:r>
            <a:endParaRPr sz="12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1430000" y="5476875"/>
            <a:ext cx="2857500" cy="1219200"/>
          </a:xfrm>
          <a:prstGeom prst="rect">
            <a:avLst/>
          </a:prstGeom>
          <a:solidFill>
            <a:srgbClr val="F8FAF8"/>
          </a:solidFill>
          <a:ln w="9525">
            <a:solidFill>
              <a:srgbClr val="CED8E4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1430000" y="5476875"/>
            <a:ext cx="76200" cy="1219200"/>
          </a:xfrm>
          <a:prstGeom prst="rect">
            <a:avLst/>
          </a:prstGeom>
          <a:solidFill>
            <a:srgbClr val="7669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1658600" y="5705475"/>
            <a:ext cx="247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7669D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1">
                <a:solidFill>
                  <a:srgbClr val="7669D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真实闭环</a:t>
            </a:r>
            <a:endParaRPr sz="2550" b="1">
              <a:solidFill>
                <a:srgbClr val="7669D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658600" y="6181725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37089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MQTT 事件验证通过</a:t>
            </a:r>
            <a:endParaRPr sz="1275" b="0">
              <a:solidFill>
                <a:srgbClr val="637089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71500" y="7762875"/>
            <a:ext cx="14097000" cy="419100"/>
          </a:xfrm>
          <a:prstGeom prst="rect">
            <a:avLst/>
          </a:prstGeom>
          <a:solidFill>
            <a:srgbClr val="E6EEF2"/>
          </a:solidFill>
          <a:ln w="9525">
            <a:solidFill>
              <a:srgbClr val="C8D5E2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42950" y="7858125"/>
            <a:ext cx="13754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16223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当前项目已经具备期末汇报所需的研究问题、系统方案、实验过程、量化结果和真实运行证据。</a:t>
            </a:r>
            <a:endParaRPr sz="1275" b="0">
              <a:solidFill>
                <a:srgbClr val="16223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3622</Words>
  <Application>WPS 文字</Application>
  <PresentationFormat>Converted Presentation</PresentationFormat>
  <Paragraphs>536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Hiragino Sans GB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昱</cp:lastModifiedBy>
  <cp:revision>1</cp:revision>
  <dcterms:created xsi:type="dcterms:W3CDTF">2026-06-15T13:24:10Z</dcterms:created>
  <dcterms:modified xsi:type="dcterms:W3CDTF">2026-06-15T13:24:10Z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0FE053B58964E507FAFC2F6A79B34CDC_42</vt:lpwstr>
  </property>
  <property fmtid="{D5CDD505-2E9C-101B-9397-08002B2CF9AE}" pid="3" name="KSOProductBuildVer">
    <vt:lpwstr>2052-12.1.25895.25895</vt:lpwstr>
  </property>
</Properties>
</file>